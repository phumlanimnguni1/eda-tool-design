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1" r:id="rId5"/>
    <p:sldId id="284" r:id="rId6"/>
    <p:sldId id="285" r:id="rId7"/>
    <p:sldId id="261" r:id="rId8"/>
    <p:sldId id="279" r:id="rId9"/>
    <p:sldId id="287" r:id="rId10"/>
    <p:sldId id="265" r:id="rId11"/>
    <p:sldId id="290" r:id="rId12"/>
    <p:sldId id="288" r:id="rId13"/>
    <p:sldId id="277" r:id="rId14"/>
    <p:sldId id="289" r:id="rId15"/>
    <p:sldId id="268" r:id="rId16"/>
    <p:sldId id="266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DBB927-4CCF-40E0-A7C1-6FC82B099F74}" v="46" dt="2026-05-09T21:26:15.573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094CC-1783-02A6-03DF-B90D1A8C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07BE4-FBC9-D8D8-A6E0-387DE8860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86353-8DA9-3400-63FB-5B0C90578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A2256-6CEF-0CA1-9D25-F299CFF93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5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3E59-BDCE-0816-6A48-E3519F4B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18870-E2C2-487C-43CD-502FBC9B8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285EE-7234-7947-ED51-4285982F1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763F5-DC66-E264-8A11-67D2C0587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01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0F2FE-E227-1359-756B-B09CD583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850A5-9F19-8ADF-F0D2-2894AB280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B58D8-54A3-3695-72E1-3C6DAC974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F8F24-750E-49A5-23BC-5BE4C94A1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9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6641-EB25-B789-F225-E813F9E4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6E0B8-3985-00FE-7901-A8D0C1A44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3FB04-A3CA-9DA8-F59B-FD6160412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AE619-828B-3C90-0056-7ACF6649F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86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7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7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google.com/document/d/17WpHU5lsuGQ1L6H8hRevKz_0UM5Vc1VNXMUUU1I_LzE/edit?usp=sharing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rive.google.com/file/d/1hbGZ7eeXSDfQn1SY0uffrwvzq3L2CTEZ/view?usp=sharing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8vzY6_ysY65WoF82yi8vOfsA5I5t_WJy/view?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drive.google.com/file/d/1DTHHX08kyVkDXnfUo-92BzoqlJXs3jXV/view?usp=sharing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file/d/1yHhRJdFa8856R8Wj6vf-kpunUmAh29fI/view?usp=sharing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hyperlink" Target="https://drive.google.com/drive/folders/1_2DgJKf8eV4BUYN93vp1Ku-kAyW93VwX?usp=sharing" TargetMode="Externa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pC7BfoKYnRrvK8a5-xaA42HVwweRD4t/view?usp=shar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03C5tnAStod2TEgF3PK14ZRPqliPZR-/view?usp=shar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hyperlink" Target="https://drive.google.com/file/d/11Psvko-tPFXTbt1GQvVY-ZJ-O3Ba8L9n/view?usp=sharin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rgZ6HqifNELjCNO2AMNzyUFbqiZ9-S7X/view?usp=shar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hyperlink" Target="https://drive.google.com/drive/folders/18hbdRC3_zTM9Q72I52IhCfc1r9H-khny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hlinkClick r:id="rId2"/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9832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kumimoji="0" lang="en-US" sz="4800" b="0" i="0" u="none" strike="noStrike" kern="1200" cap="all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+mj-ea"/>
                <a:cs typeface="+mj-cs"/>
              </a:rPr>
              <a:t>DataQuest2026: Building Interpretable Credit Models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645CB3-D42F-44C5-61D4-FC739596D02C}"/>
              </a:ext>
            </a:extLst>
          </p:cNvPr>
          <p:cNvSpPr txBox="1"/>
          <p:nvPr/>
        </p:nvSpPr>
        <p:spPr>
          <a:xfrm>
            <a:off x="4296697" y="4866968"/>
            <a:ext cx="40902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/>
              <a:t>        </a:t>
            </a:r>
            <a:r>
              <a:rPr lang="fi-FI" sz="2800" dirty="0">
                <a:solidFill>
                  <a:schemeClr val="bg2"/>
                </a:solidFill>
              </a:rPr>
              <a:t>Phumlani Mnguni</a:t>
            </a:r>
          </a:p>
          <a:p>
            <a:r>
              <a:rPr lang="fi-FI" dirty="0">
                <a:solidFill>
                  <a:schemeClr val="bg2"/>
                </a:solidFill>
              </a:rPr>
              <a:t>         </a:t>
            </a:r>
            <a:r>
              <a:rPr lang="fi-FI" sz="2800" dirty="0">
                <a:solidFill>
                  <a:schemeClr val="bg2"/>
                </a:solidFill>
              </a:rPr>
              <a:t>+27 63 6259 456</a:t>
            </a:r>
          </a:p>
          <a:p>
            <a:r>
              <a:rPr lang="fi-FI" sz="2400" dirty="0">
                <a:solidFill>
                  <a:schemeClr val="bg2"/>
                </a:solidFill>
              </a:rPr>
              <a:t>phumlanimnguni6@gmail.com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203158"/>
            <a:ext cx="5134335" cy="5037221"/>
          </a:xfrm>
        </p:spPr>
        <p:txBody>
          <a:bodyPr>
            <a:normAutofit fontScale="92500" lnSpcReduction="10000"/>
          </a:bodyPr>
          <a:lstStyle/>
          <a:p>
            <a:r>
              <a:rPr lang="en-ZA" b="1" dirty="0"/>
              <a:t>01 Project Overview and Objectives </a:t>
            </a:r>
          </a:p>
          <a:p>
            <a:r>
              <a:rPr lang="en-ZA" b="1" dirty="0"/>
              <a:t>02 Constraints &amp; Business Problem Framing</a:t>
            </a:r>
          </a:p>
          <a:p>
            <a:r>
              <a:rPr lang="en-US" b="1" dirty="0"/>
              <a:t>03 Key Research Concepts in Credit Modeling </a:t>
            </a:r>
          </a:p>
          <a:p>
            <a:r>
              <a:rPr lang="en-US" b="1" dirty="0"/>
              <a:t>04 Exploratory Data Analysis Tool Design</a:t>
            </a:r>
          </a:p>
          <a:p>
            <a:r>
              <a:rPr lang="en-US" b="1" dirty="0"/>
              <a:t>05 </a:t>
            </a:r>
            <a:r>
              <a:rPr lang="en-ZA" b="1" dirty="0"/>
              <a:t>Data Cleaning</a:t>
            </a:r>
          </a:p>
          <a:p>
            <a:r>
              <a:rPr lang="en-US" b="1" dirty="0"/>
              <a:t>06 Data Preparation, Feature Engineering </a:t>
            </a:r>
          </a:p>
          <a:p>
            <a:r>
              <a:rPr lang="en-US" b="1" dirty="0"/>
              <a:t>07 Build Model: </a:t>
            </a:r>
            <a:r>
              <a:rPr lang="en-ZA" b="1" dirty="0"/>
              <a:t>Results &amp; Performance Metrics</a:t>
            </a:r>
            <a:endParaRPr lang="en-US" b="1" dirty="0"/>
          </a:p>
          <a:p>
            <a:r>
              <a:rPr lang="en-US" b="1" dirty="0"/>
              <a:t>08 Business Value and Decision Dashboard</a:t>
            </a:r>
          </a:p>
          <a:p>
            <a:r>
              <a:rPr lang="en-US" b="1" dirty="0"/>
              <a:t>09 AI Usage Reflection</a:t>
            </a:r>
          </a:p>
          <a:p>
            <a:r>
              <a:rPr lang="en-US" b="1" dirty="0"/>
              <a:t>10 Closing &amp; Thank You</a:t>
            </a:r>
          </a:p>
          <a:p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9464" y="2415661"/>
            <a:ext cx="5134335" cy="2862390"/>
          </a:xfrm>
          <a:noFill/>
        </p:spPr>
      </p:pic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1677D-BA60-3F6F-E054-89E137692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>
            <a:hlinkClick r:id="rId2"/>
            <a:extLst>
              <a:ext uri="{FF2B5EF4-FFF2-40B4-BE49-F238E27FC236}">
                <a16:creationId xmlns:a16="http://schemas.microsoft.com/office/drawing/2014/main" id="{BECDC75C-45E6-9D35-825B-2E25F43BBE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9832"/>
            <a:ext cx="12192000" cy="6858000"/>
          </a:xfrm>
          <a:solidFill>
            <a:srgbClr val="002060"/>
          </a:solidFill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C3109B4-A0EB-360F-35AA-66ADF42FE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2708787"/>
            <a:ext cx="9144000" cy="2286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Complete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Data Story</a:t>
            </a:r>
          </a:p>
        </p:txBody>
      </p:sp>
    </p:spTree>
    <p:extLst>
      <p:ext uri="{BB962C8B-B14F-4D97-AF65-F5344CB8AC3E}">
        <p14:creationId xmlns:p14="http://schemas.microsoft.com/office/powerpoint/2010/main" val="6402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ZA" b="1" dirty="0"/>
              <a:t>01 Project Overview and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DataQuest2026 empowers data scientists using Generative AI as a productivity companion in the retail lending space. This artificial intelligence must be trained on </a:t>
            </a:r>
            <a:r>
              <a:rPr lang="en-US" sz="1700" b="1" dirty="0"/>
              <a:t>quality data.</a:t>
            </a:r>
            <a:endParaRPr lang="en-US" sz="17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Focusing on improving consumer loan evaluations by building interpretable predictive models for default risk analysis.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Constraint: Mandated Logistic Regression ensures regulatory transparency, balancing complexity with business explainability.</a:t>
            </a:r>
          </a:p>
        </p:txBody>
      </p:sp>
      <p:pic>
        <p:nvPicPr>
          <p:cNvPr id="20" name="Picture Placeholder 7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/>
        </p:blipFill>
        <p:spPr>
          <a:xfrm>
            <a:off x="6219464" y="1691323"/>
            <a:ext cx="5567252" cy="4096528"/>
          </a:xfrm>
          <a:noFill/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b="1" dirty="0"/>
              <a:t>02 Constraints &amp; Business Problem Framing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276351"/>
            <a:ext cx="5212079" cy="488562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🧩 Problem Statement</a:t>
            </a:r>
          </a:p>
          <a:p>
            <a:endParaRPr lang="en-US" dirty="0"/>
          </a:p>
          <a:p>
            <a:r>
              <a:rPr lang="en-US" dirty="0"/>
              <a:t>The challenge is to improve how a retail lending company evaluates loan applications. </a:t>
            </a:r>
          </a:p>
          <a:p>
            <a:endParaRPr lang="en-US" dirty="0"/>
          </a:p>
          <a:p>
            <a:r>
              <a:rPr lang="en-US" b="1" dirty="0"/>
              <a:t>key Questions to help understand the business problem better</a:t>
            </a: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can we make better loan approval decisions?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do we balance loan volume against portfolio risk?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is the business cost of our prediction errors?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How do we maintain transparency and regulatory compliance?</a:t>
            </a:r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1038226"/>
            <a:ext cx="5665530" cy="5123744"/>
          </a:xfrm>
          <a:noFill/>
        </p:spPr>
        <p:txBody>
          <a:bodyPr>
            <a:normAutofit/>
          </a:bodyPr>
          <a:lstStyle/>
          <a:p>
            <a:br>
              <a:rPr lang="en-US" b="1" dirty="0"/>
            </a:br>
            <a:r>
              <a:rPr lang="en-ZA" b="1" dirty="0"/>
              <a:t>Constraints:</a:t>
            </a:r>
            <a:endParaRPr lang="en-ZA" dirty="0"/>
          </a:p>
          <a:p>
            <a:r>
              <a:rPr lang="en-US" dirty="0"/>
              <a:t>The solution must be interpretable, specifically logistic regression, so that risk managers, business stakeholders, and regulators can trust and understand the decisions.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3FEA5EBB-93D9-5A8E-B209-BC52AC6A9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795" y="2517058"/>
            <a:ext cx="5665530" cy="364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8A2B9-72CF-228C-5F13-4A04C15B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32FEC-904D-ABD8-ED30-CD600215F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b="1" dirty="0"/>
              <a:t>03 Key Research Concepts in Credit Modeling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AFE8D-9A13-4E59-1760-F569FDEC57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25" y="953729"/>
            <a:ext cx="5981453" cy="5208242"/>
          </a:xfrm>
          <a:noFill/>
        </p:spPr>
        <p:txBody>
          <a:bodyPr>
            <a:normAutofit/>
          </a:bodyPr>
          <a:lstStyle/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Prohibited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8934A-C94C-3F46-0786-0AB4CBE22C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1724" y="1134360"/>
            <a:ext cx="5981450" cy="502761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Success Metrics</a:t>
            </a:r>
          </a:p>
          <a:p>
            <a:r>
              <a:rPr lang="en-US" dirty="0"/>
              <a:t>Evaluate default risk using AUC, Gini, Precision, Recall, Accuracy and F1 score to ensure robust lending.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85801-FB63-89AE-D16B-FFEDE2CB2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917EBD-F537-7B77-E1F5-A35E1AD9CF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3484" y="3315448"/>
            <a:ext cx="5742039" cy="2846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77F0E3-1D8C-E20C-740C-315023BC3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77" y="1134359"/>
            <a:ext cx="5761704" cy="354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55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b="1" dirty="0"/>
              <a:t>04 Exploratory Data Analysis Tool Design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93" y="1258528"/>
            <a:ext cx="6033007" cy="5233711"/>
          </a:xfrm>
        </p:spPr>
        <p:txBody>
          <a:bodyPr/>
          <a:lstStyle/>
          <a:p>
            <a:r>
              <a:rPr lang="en-ZA" b="1" dirty="0"/>
              <a:t>Data Quality Reports</a:t>
            </a:r>
          </a:p>
          <a:p>
            <a:endParaRPr lang="en-ZA" b="1" dirty="0"/>
          </a:p>
          <a:p>
            <a:endParaRPr lang="en-ZA" b="1" dirty="0"/>
          </a:p>
          <a:p>
            <a:endParaRPr lang="en-ZA" b="1" dirty="0"/>
          </a:p>
          <a:p>
            <a:endParaRPr lang="en-ZA" b="1" dirty="0"/>
          </a:p>
          <a:p>
            <a:endParaRPr lang="en-ZA" b="1" dirty="0"/>
          </a:p>
          <a:p>
            <a:pPr marL="0" indent="0">
              <a:buNone/>
            </a:pPr>
            <a:endParaRPr lang="en-ZA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4492" y="1258529"/>
            <a:ext cx="5856023" cy="4903441"/>
          </a:xfrm>
          <a:noFill/>
        </p:spPr>
        <p:txBody>
          <a:bodyPr>
            <a:normAutofit/>
          </a:bodyPr>
          <a:lstStyle/>
          <a:p>
            <a:r>
              <a:rPr lang="en-ZA" b="1" dirty="0"/>
              <a:t>Summary Statistics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48F2833C-E9DE-83E4-B008-ABC806A412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1484" y="1543665"/>
            <a:ext cx="4843303" cy="2791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7A3C89-F3D1-9998-2692-9619C45FC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85" y="4414683"/>
            <a:ext cx="4914130" cy="1899111"/>
          </a:xfrm>
          <a:prstGeom prst="rect">
            <a:avLst/>
          </a:prstGeom>
        </p:spPr>
      </p:pic>
      <p:pic>
        <p:nvPicPr>
          <p:cNvPr id="9" name="Picture 8">
            <a:hlinkClick r:id="rId6"/>
            <a:extLst>
              <a:ext uri="{FF2B5EF4-FFF2-40B4-BE49-F238E27FC236}">
                <a16:creationId xmlns:a16="http://schemas.microsoft.com/office/drawing/2014/main" id="{4A786700-31C1-EA54-C173-C09D75EBFA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491" y="1543666"/>
            <a:ext cx="5856022" cy="28611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C2CAE4-8DEB-3DD3-0368-ECB55062B7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491" y="4483510"/>
            <a:ext cx="5856022" cy="182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F5ED-B2DD-538F-39DB-F99D8E72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27C3-D790-3314-57B0-52630A9C6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b="1" dirty="0"/>
              <a:t>04 Exploratory Data Analysis Tool Design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9D2D48EA-0EB3-FBF8-9C18-50CEE87809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25" y="1160206"/>
            <a:ext cx="5759245" cy="5073445"/>
          </a:xfrm>
        </p:spPr>
        <p:txBody>
          <a:bodyPr/>
          <a:lstStyle/>
          <a:p>
            <a:r>
              <a:rPr lang="en-ZA" b="1" dirty="0"/>
              <a:t>Univariate Exploration </a:t>
            </a:r>
            <a:r>
              <a:rPr lang="en-ZA" b="1" dirty="0" err="1"/>
              <a:t>WoE</a:t>
            </a:r>
            <a:r>
              <a:rPr lang="en-ZA" b="1" dirty="0"/>
              <a:t>/IV:</a:t>
            </a:r>
          </a:p>
          <a:p>
            <a:endParaRPr lang="en-ZA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1F436-F37D-D6F0-F361-6C3CF36B6F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89290" y="1160206"/>
            <a:ext cx="5633885" cy="5073445"/>
          </a:xfrm>
          <a:noFill/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</a:t>
            </a:r>
            <a:r>
              <a:rPr lang="en-ZA" b="1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ZA" b="1" dirty="0"/>
              <a:t>Bivariate: Heatmaps &amp; Interactions </a:t>
            </a:r>
          </a:p>
          <a:p>
            <a:endParaRPr lang="en-ZA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8B2BA-D3EE-AFCC-641C-3D1BC8A0A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1B482-F6CE-2242-9F4E-8B4DC6BFF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7" y="1416586"/>
            <a:ext cx="5083280" cy="2734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758DE1-E0CB-ACE6-4601-FA8B68932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16362"/>
            <a:ext cx="5211097" cy="1977194"/>
          </a:xfrm>
          <a:prstGeom prst="rect">
            <a:avLst/>
          </a:prstGeom>
        </p:spPr>
      </p:pic>
      <p:pic>
        <p:nvPicPr>
          <p:cNvPr id="10" name="Picture 9">
            <a:hlinkClick r:id="rId5"/>
            <a:extLst>
              <a:ext uri="{FF2B5EF4-FFF2-40B4-BE49-F238E27FC236}">
                <a16:creationId xmlns:a16="http://schemas.microsoft.com/office/drawing/2014/main" id="{9EFA8EAD-DC3E-9C19-0F32-87B814F223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932" y="1416586"/>
            <a:ext cx="5611756" cy="2663801"/>
          </a:xfrm>
          <a:prstGeom prst="rect">
            <a:avLst/>
          </a:prstGeom>
        </p:spPr>
      </p:pic>
      <p:pic>
        <p:nvPicPr>
          <p:cNvPr id="12" name="Picture 11">
            <a:hlinkClick r:id="rId5"/>
            <a:extLst>
              <a:ext uri="{FF2B5EF4-FFF2-40B4-BE49-F238E27FC236}">
                <a16:creationId xmlns:a16="http://schemas.microsoft.com/office/drawing/2014/main" id="{C0FC9A46-2483-7DED-D69C-767FE9931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290" y="4247535"/>
            <a:ext cx="5486399" cy="205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94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548C-19DD-903D-A3B4-11CE9CBE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6485-DBBD-2A97-A893-18FBED9C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b="1" dirty="0"/>
              <a:t>05 </a:t>
            </a:r>
            <a:r>
              <a:rPr lang="en-ZA" b="1" dirty="0"/>
              <a:t>Data Preparation &amp; Cleaning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6245-D2BC-8A2F-FBB7-C224E8334F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676" y="835742"/>
            <a:ext cx="5901506" cy="5468221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🧩 Data Cleaning in Databricks platform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E01CC-09CF-2C7A-2CF8-65073C4BA5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8050" y="835742"/>
            <a:ext cx="6067275" cy="5468220"/>
          </a:xfrm>
          <a:noFill/>
        </p:spPr>
        <p:txBody>
          <a:bodyPr>
            <a:normAutofit/>
          </a:bodyPr>
          <a:lstStyle/>
          <a:p>
            <a:r>
              <a:rPr lang="en-ZA" b="1" dirty="0"/>
              <a:t>Fixed data issues:</a:t>
            </a:r>
          </a:p>
          <a:p>
            <a:endParaRPr lang="en-Z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Correcting wrong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Removed Duplicate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Standardising formats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fixing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Handling outliers</a:t>
            </a:r>
          </a:p>
          <a:p>
            <a:endParaRPr lang="en-ZA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F50ECA-2B45-DA6F-9A38-3AF690DED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529966D2-97F9-436F-C1FB-05B4932CC9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6" y="1209368"/>
            <a:ext cx="5665530" cy="425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9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06 Data Preparation,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40000"/>
              </a:lnSpc>
            </a:pPr>
            <a:r>
              <a:rPr lang="en-ZA" sz="1500" b="1" dirty="0"/>
              <a:t>4 New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Loan to income ratio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Debt servicing stress index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Delinquency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earner low stability flag</a:t>
            </a:r>
          </a:p>
          <a:p>
            <a:r>
              <a:rPr lang="en-US" sz="1500" b="1" dirty="0"/>
              <a:t>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By dropping low predictors of credit risk features</a:t>
            </a:r>
            <a:endParaRPr lang="en-ZA" sz="1500" dirty="0"/>
          </a:p>
          <a:p>
            <a:pPr>
              <a:lnSpc>
                <a:spcPct val="140000"/>
              </a:lnSpc>
            </a:pPr>
            <a:endParaRPr lang="en-US" sz="1500" dirty="0"/>
          </a:p>
        </p:txBody>
      </p:sp>
      <p:pic>
        <p:nvPicPr>
          <p:cNvPr id="15" name="Picture Placeholder 5">
            <a:hlinkClick r:id="rId3"/>
            <a:extLst>
              <a:ext uri="{FF2B5EF4-FFF2-40B4-BE49-F238E27FC236}">
                <a16:creationId xmlns:a16="http://schemas.microsoft.com/office/drawing/2014/main" id="{BBD84AA8-495D-1210-1B06-DA73C5BCF36A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464" y="2655595"/>
            <a:ext cx="5134335" cy="2382522"/>
          </a:xfrm>
          <a:noFill/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70D77-DC87-BA7B-9845-9CAB1897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F68D-18CD-F696-9D77-28E1E48FE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612"/>
            <a:ext cx="10515600" cy="1200027"/>
          </a:xfrm>
          <a:noFill/>
        </p:spPr>
        <p:txBody>
          <a:bodyPr anchor="ctr"/>
          <a:lstStyle/>
          <a:p>
            <a:r>
              <a:rPr lang="en-US" b="1" dirty="0"/>
              <a:t>07 Build model: </a:t>
            </a:r>
            <a:r>
              <a:rPr lang="en-ZA" b="1" dirty="0"/>
              <a:t>Results &amp; performance metrics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E1F5E-7DDE-81BF-2853-C0AE1B3E239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38199" y="1276350"/>
                <a:ext cx="5212079" cy="5027611"/>
              </a:xfrm>
              <a:noFill/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🧩 </a:t>
                </a:r>
                <a:r>
                  <a:rPr lang="en-ZA" i="1" dirty="0"/>
                  <a:t>Baseline AUC: 0.68 | </a:t>
                </a:r>
                <a:r>
                  <a:rPr lang="en-ZA" i="1" dirty="0" err="1"/>
                  <a:t>LightGBM</a:t>
                </a:r>
                <a:r>
                  <a:rPr lang="en-ZA" i="1" dirty="0"/>
                  <a:t> Ceiling: 0.82 </a:t>
                </a:r>
              </a:p>
              <a:p>
                <a:r>
                  <a:rPr lang="en-ZA" i="1" dirty="0"/>
                  <a:t>      Our Model AUC: 0.7799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Our Model Equation 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=−1.704449−0.595744×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annual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income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−0.326947×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interest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−0.633178×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employment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length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years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−0.287620×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num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delinquencies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yr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−0.680532×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months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since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oldest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account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−1.181109×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num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open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accounts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−0.545649×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loan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amount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+0.038100×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dti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ratio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−0.641392×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months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since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last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delinquency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−0.344233×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pct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accounts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current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+0.000000×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high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earner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low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stability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flag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−0.431476×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loan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to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income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ratio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−0.183723×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debt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servicing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stress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index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ZA" i="1" smtClean="0">
                          <a:latin typeface="Cambria Math" panose="02040503050406030204" pitchFamily="18" charset="0"/>
                        </a:rPr>
                        <m:t>−0.391996×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WoE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delinquency</m:t>
                      </m:r>
                      <m:r>
                        <m:rPr>
                          <m:lit/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concentration</m:t>
                      </m:r>
                      <m:r>
                        <m:rPr>
                          <m:nor/>
                        </m:rPr>
                        <a:rPr lang="en-ZA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AE1F5E-7DDE-81BF-2853-C0AE1B3E2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38199" y="1276350"/>
                <a:ext cx="5212079" cy="5027611"/>
              </a:xfrm>
              <a:blipFill>
                <a:blip r:embed="rId3"/>
                <a:stretch>
                  <a:fillRect l="-936" t="-1697" r="-23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B8BA5-C689-5FE5-6920-253D62E42A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1038225"/>
            <a:ext cx="5665530" cy="5265737"/>
          </a:xfrm>
          <a:noFill/>
        </p:spPr>
        <p:txBody>
          <a:bodyPr>
            <a:normAutofit/>
          </a:bodyPr>
          <a:lstStyle/>
          <a:p>
            <a:br>
              <a:rPr lang="en-US" b="1" dirty="0"/>
            </a:br>
            <a:r>
              <a:rPr lang="en-US" b="1" dirty="0"/>
              <a:t>Our Model </a:t>
            </a:r>
            <a:r>
              <a:rPr lang="en-ZA" b="1" dirty="0"/>
              <a:t>Metrics:</a:t>
            </a:r>
            <a:endParaRPr lang="en-ZA" dirty="0"/>
          </a:p>
          <a:p>
            <a:r>
              <a:rPr lang="en-US" dirty="0"/>
              <a:t>AUC = 0.78; Gini = 0.56; Precision = 0.6</a:t>
            </a:r>
          </a:p>
          <a:p>
            <a:r>
              <a:rPr lang="en-US" dirty="0"/>
              <a:t>Recall = 0.17; Accuracy = 0.85; F1-score = 0,26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DFE80-1CB1-4E2F-8984-AB7C4141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>
            <a:hlinkClick r:id="rId4"/>
            <a:extLst>
              <a:ext uri="{FF2B5EF4-FFF2-40B4-BE49-F238E27FC236}">
                <a16:creationId xmlns:a16="http://schemas.microsoft.com/office/drawing/2014/main" id="{B88C1100-EBE4-9D57-8AA1-B9BF6FC35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58116" y="2458064"/>
            <a:ext cx="5464395" cy="370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64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4497"/>
          </a:xfrm>
        </p:spPr>
        <p:txBody>
          <a:bodyPr anchor="ctr">
            <a:normAutofit/>
          </a:bodyPr>
          <a:lstStyle/>
          <a:p>
            <a:r>
              <a:rPr lang="en-US" b="1" dirty="0"/>
              <a:t>08 Business Value and Decision Dashboard</a:t>
            </a:r>
          </a:p>
        </p:txBody>
      </p:sp>
      <p:pic>
        <p:nvPicPr>
          <p:cNvPr id="9" name="Content Placeholder 8">
            <a:hlinkClick r:id="rId3"/>
            <a:extLst>
              <a:ext uri="{FF2B5EF4-FFF2-40B4-BE49-F238E27FC236}">
                <a16:creationId xmlns:a16="http://schemas.microsoft.com/office/drawing/2014/main" id="{EA1E0C37-5F92-F74B-DE81-46C6898C61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rcRect l="21981" r="21981"/>
          <a:stretch/>
        </p:blipFill>
        <p:spPr>
          <a:xfrm>
            <a:off x="50578" y="595365"/>
            <a:ext cx="5372518" cy="2833635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E4B9AB-72E9-F14C-92B6-96C813748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112" y="934497"/>
            <a:ext cx="5372519" cy="3637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EAC461-955E-8437-569E-4135B5D06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166" y="3549445"/>
            <a:ext cx="5584723" cy="27131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E4A399-ADBE-AF63-086D-0556D2367E76}"/>
              </a:ext>
            </a:extLst>
          </p:cNvPr>
          <p:cNvSpPr txBox="1"/>
          <p:nvPr/>
        </p:nvSpPr>
        <p:spPr>
          <a:xfrm>
            <a:off x="6548284" y="4572000"/>
            <a:ext cx="51513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Business problem our Low Recall model’s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the default 50% threshold, the model only catches 17.1% of bad loans (Recall)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solves this by allowing the business to lower the threshold, trade off some volume, and catch more bad debt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  <a:noFill/>
        </p:spPr>
        <p:txBody>
          <a:bodyPr anchor="ctr"/>
          <a:lstStyle/>
          <a:p>
            <a:r>
              <a:rPr lang="en-US" b="1" dirty="0"/>
              <a:t>09 AI Usage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AI Usage</a:t>
            </a:r>
          </a:p>
          <a:p>
            <a:pPr marL="285750" lvl="1" indent="-285750"/>
            <a:r>
              <a:rPr lang="en-US" dirty="0"/>
              <a:t>Prompted AI to build the interactive </a:t>
            </a:r>
            <a:r>
              <a:rPr lang="en-US" dirty="0" err="1"/>
              <a:t>Streamlit</a:t>
            </a:r>
            <a:r>
              <a:rPr lang="en-US" dirty="0"/>
              <a:t> EDA tool and calculate </a:t>
            </a:r>
            <a:r>
              <a:rPr lang="en-US" dirty="0" err="1"/>
              <a:t>WoE</a:t>
            </a:r>
            <a:r>
              <a:rPr lang="en-US" dirty="0"/>
              <a:t> bins.</a:t>
            </a:r>
          </a:p>
          <a:p>
            <a:pPr marL="285750" lvl="1" indent="-285750"/>
            <a:r>
              <a:rPr lang="en-ZA" i="1" dirty="0"/>
              <a:t>Prompted AI to clean my loan book dataset</a:t>
            </a:r>
            <a:endParaRPr lang="en-US" dirty="0"/>
          </a:p>
          <a:p>
            <a:pPr marL="285750" lvl="1" indent="-285750"/>
            <a:r>
              <a:rPr lang="en-ZA" i="1" dirty="0"/>
              <a:t>Prompted AI to build logistic model</a:t>
            </a:r>
          </a:p>
          <a:p>
            <a:pPr marL="285750" lvl="1" indent="-285750"/>
            <a:r>
              <a:rPr lang="en-US" dirty="0"/>
              <a:t>Prompted AI to build the business dashboard</a:t>
            </a:r>
            <a:endParaRPr lang="en-ZA" i="1" dirty="0"/>
          </a:p>
          <a:p>
            <a:pPr marL="285750" lvl="1" indent="-285750"/>
            <a:endParaRPr lang="en-US" dirty="0"/>
          </a:p>
          <a:p>
            <a:pPr marL="285750" lvl="1" indent="-28575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19464" y="1790329"/>
            <a:ext cx="5134335" cy="4113054"/>
          </a:xfrm>
          <a:noFill/>
        </p:spPr>
        <p:txBody>
          <a:bodyPr>
            <a:normAutofit/>
          </a:bodyPr>
          <a:lstStyle/>
          <a:p>
            <a:r>
              <a:rPr lang="en-US" dirty="0"/>
              <a:t>AI REFLECTION</a:t>
            </a:r>
          </a:p>
          <a:p>
            <a:r>
              <a:rPr lang="en-US" dirty="0"/>
              <a:t>Rejected AI's advice to use </a:t>
            </a:r>
            <a:r>
              <a:rPr lang="en-US" dirty="0" err="1"/>
              <a:t>StandardScaler</a:t>
            </a:r>
            <a:r>
              <a:rPr lang="en-US" dirty="0"/>
              <a:t> on numeric variables, as we knew this would destroy the regulatory interpretability of our logistic regression coefficients.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39F69-A1C6-AF25-B91E-7EEE8ED9E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5ADA4-3F25-4729-A251-587D36623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5ECBE598-DAB9-D4D6-05AC-0F8C715F898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9832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B9D3352-A3DB-CDD9-34AD-BDAB1CFB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472"/>
            <a:ext cx="9144000" cy="150433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278B9-B876-D7B4-6598-6F3D56318CA9}"/>
              </a:ext>
            </a:extLst>
          </p:cNvPr>
          <p:cNvSpPr txBox="1"/>
          <p:nvPr/>
        </p:nvSpPr>
        <p:spPr>
          <a:xfrm>
            <a:off x="4109884" y="2113936"/>
            <a:ext cx="40508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        Phumlani Mnguni</a:t>
            </a: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sz="2800" dirty="0">
                <a:solidFill>
                  <a:schemeClr val="bg1"/>
                </a:solidFill>
              </a:rPr>
              <a:t> +27 63 6259 456</a:t>
            </a:r>
          </a:p>
          <a:p>
            <a:r>
              <a:rPr lang="en-US" sz="2400" dirty="0">
                <a:solidFill>
                  <a:schemeClr val="bg1"/>
                </a:solidFill>
              </a:rPr>
              <a:t>phumlanimnguni6@gmail.com</a:t>
            </a:r>
          </a:p>
        </p:txBody>
      </p:sp>
      <p:pic>
        <p:nvPicPr>
          <p:cNvPr id="10" name="Picture 9">
            <a:hlinkClick r:id="rId4"/>
            <a:extLst>
              <a:ext uri="{FF2B5EF4-FFF2-40B4-BE49-F238E27FC236}">
                <a16:creationId xmlns:a16="http://schemas.microsoft.com/office/drawing/2014/main" id="{060F239C-6532-EC0F-659A-E61F5C1780F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lumMod val="75000"/>
                <a:lumOff val="2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5409893"/>
            <a:ext cx="12191999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54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71af3243-3dd4-4a8d-8c0d-dd76da1f02a5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sharepoint/v3"/>
    <ds:schemaRef ds:uri="230e9df3-be65-4c73-a93b-d1236ebd677e"/>
    <ds:schemaRef ds:uri="http://schemas.openxmlformats.org/package/2006/metadata/core-properties"/>
    <ds:schemaRef ds:uri="16c05727-aa75-4e4a-9b5f-8a80a1165891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3825</TotalTime>
  <Words>741</Words>
  <Application>Microsoft Office PowerPoint</Application>
  <PresentationFormat>Widescreen</PresentationFormat>
  <Paragraphs>130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Cambria Math</vt:lpstr>
      <vt:lpstr>Wingdings</vt:lpstr>
      <vt:lpstr>Custom</vt:lpstr>
      <vt:lpstr>DataQuest2026: Building Interpretable Credit Models</vt:lpstr>
      <vt:lpstr>Contents</vt:lpstr>
      <vt:lpstr>Complete Data Story</vt:lpstr>
      <vt:lpstr>01 Project Overview and Objectives </vt:lpstr>
      <vt:lpstr>02 Constraints &amp; Business Problem Framing </vt:lpstr>
      <vt:lpstr>03 Key Research Concepts in Credit Modeling  </vt:lpstr>
      <vt:lpstr>04 Exploratory Data Analysis Tool Design</vt:lpstr>
      <vt:lpstr>04 Exploratory Data Analysis Tool Design</vt:lpstr>
      <vt:lpstr>05 Data Preparation &amp; Cleaning  </vt:lpstr>
      <vt:lpstr>06 Data Preparation, Feature Engineering</vt:lpstr>
      <vt:lpstr>07 Build model: Results &amp; performance metrics  </vt:lpstr>
      <vt:lpstr>08 Business Value and Decision Dashboard</vt:lpstr>
      <vt:lpstr>09 AI Usage Reflection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Mnguni, Phumlani, (Mr) (s228338409)</dc:creator>
  <cp:lastModifiedBy>Mnguni, Phumlani, (Mr) (s228338409)</cp:lastModifiedBy>
  <cp:revision>85</cp:revision>
  <dcterms:created xsi:type="dcterms:W3CDTF">2026-05-06T12:27:40Z</dcterms:created>
  <dcterms:modified xsi:type="dcterms:W3CDTF">2026-05-19T13:17:41Z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